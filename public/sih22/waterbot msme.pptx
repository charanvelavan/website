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2" r:id="rId1"/>
  </p:sldMasterIdLst>
  <p:notesMasterIdLst>
    <p:notesMasterId r:id="rId9"/>
  </p:notesMasterIdLst>
  <p:sldIdLst>
    <p:sldId id="263" r:id="rId2"/>
    <p:sldId id="277" r:id="rId3"/>
    <p:sldId id="257" r:id="rId4"/>
    <p:sldId id="258" r:id="rId5"/>
    <p:sldId id="285" r:id="rId6"/>
    <p:sldId id="259" r:id="rId7"/>
    <p:sldId id="264" r:id="rId8"/>
  </p:sldIdLst>
  <p:sldSz cx="12192000" cy="6858000"/>
  <p:notesSz cx="6858000" cy="9144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entury Gothic" panose="020B0502020202020204" pitchFamily="34" charset="0"/>
      <p:regular r:id="rId14"/>
      <p:bold r:id="rId15"/>
      <p:italic r:id="rId16"/>
      <p:boldItalic r:id="rId17"/>
    </p:embeddedFont>
    <p:embeddedFont>
      <p:font typeface="Franklin Gothic" panose="020B0604020202020204" charset="0"/>
      <p:bold r:id="rId18"/>
    </p:embeddedFont>
    <p:embeddedFont>
      <p:font typeface="Garamond" panose="02020404030301010803" pitchFamily="18" charset="0"/>
      <p:regular r:id="rId19"/>
      <p:bold r:id="rId20"/>
      <p:italic r:id="rId21"/>
    </p:embeddedFont>
    <p:embeddedFont>
      <p:font typeface="Libre Franklin" pitchFamily="2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http://customooxmlschemas.google.com/">
      <go:slidesCustomData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xmlns="" r:id="rId26" roundtripDataSignature="AMtx7mi1sBDdHb2XsYteFNPHBFMUQvu/s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205134-70C2-45FC-BDA1-F23956D33E16}" v="739" dt="2022-04-28T18:11:04.662"/>
    <p1510:client id="{64B5E185-94CB-4BCE-9551-3920A9768FE8}" v="9" dt="2022-04-29T15:52:30.298"/>
    <p1510:client id="{6AEA9E89-5326-4359-AA15-2E02900A9143}" v="10" dt="2022-04-28T05:47:03.400"/>
    <p1510:client id="{9D231125-82F1-4E21-A84A-4E2F3738207A}" v="33" dt="2022-04-28T09:18:38.224"/>
    <p1510:client id="{B34DC6B2-FC3B-4AA4-95F1-D05D7CC2A51B}" v="192" dt="2022-04-28T17:57:42.596"/>
    <p1510:client id="{B5894274-E06C-4D83-88E7-4220F1F64957}" v="1122" dt="2022-04-27T16:49:05.303"/>
    <p1510:client id="{DA642387-9A61-425F-891F-10928CCF55E1}" v="10" dt="2022-04-29T05:28:40.997"/>
    <p1510:client id="{E552AEFE-45C7-4088-B957-F307AB589859}" v="390" dt="2022-04-28T08:46:31.042"/>
    <p1510:client id="{E66DE055-1AC3-4B32-9EE4-F8B7AE5185B0}" v="11" dt="2022-04-30T07:04:05.9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95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font" Target="fonts/font16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1677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37223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78193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34297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731461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531038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120441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IN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0337641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39962325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32923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46073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ntroduction">
  <p:cSld name="Introduction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>
            <a:spLocks noGrp="1"/>
          </p:cNvSpPr>
          <p:nvPr>
            <p:ph type="pic" idx="2"/>
          </p:nvPr>
        </p:nvSpPr>
        <p:spPr>
          <a:xfrm>
            <a:off x="6096000" y="-22543"/>
            <a:ext cx="6096000" cy="6903086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952499" y="2289363"/>
            <a:ext cx="4572001" cy="27952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0" i="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2pPr>
            <a:lvl3pPr marL="1371600" lvl="2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3pPr>
            <a:lvl4pPr marL="1828800" lvl="3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4pPr>
            <a:lvl5pPr marL="2286000" lvl="4" indent="-482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4000"/>
              <a:buChar char="•"/>
              <a:defRPr sz="40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8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22417082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mmary ">
  <p:cSld name="Summary ">
    <p:bg>
      <p:bgPr>
        <a:solidFill>
          <a:schemeClr val="lt1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 txBox="1">
            <a:spLocks noGrp="1"/>
          </p:cNvSpPr>
          <p:nvPr>
            <p:ph type="title"/>
          </p:nvPr>
        </p:nvSpPr>
        <p:spPr>
          <a:xfrm>
            <a:off x="964023" y="879063"/>
            <a:ext cx="4941477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ranklin Gothic"/>
              <a:buNone/>
              <a:defRPr sz="4400" b="1" i="0"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1"/>
          </p:nvPr>
        </p:nvSpPr>
        <p:spPr>
          <a:xfrm>
            <a:off x="952500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952500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3"/>
          </p:nvPr>
        </p:nvSpPr>
        <p:spPr>
          <a:xfrm>
            <a:off x="953655" y="3841846"/>
            <a:ext cx="4838700" cy="63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4"/>
          </p:nvPr>
        </p:nvSpPr>
        <p:spPr>
          <a:xfrm>
            <a:off x="953655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5"/>
          </p:nvPr>
        </p:nvSpPr>
        <p:spPr>
          <a:xfrm>
            <a:off x="952500" y="5017901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6"/>
          </p:nvPr>
        </p:nvSpPr>
        <p:spPr>
          <a:xfrm>
            <a:off x="952500" y="4646997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body" idx="7"/>
          </p:nvPr>
        </p:nvSpPr>
        <p:spPr>
          <a:xfrm>
            <a:off x="6399647" y="2656904"/>
            <a:ext cx="4838700" cy="5743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body" idx="8"/>
          </p:nvPr>
        </p:nvSpPr>
        <p:spPr>
          <a:xfrm>
            <a:off x="6399647" y="2286000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9"/>
          </p:nvPr>
        </p:nvSpPr>
        <p:spPr>
          <a:xfrm>
            <a:off x="6399647" y="3841846"/>
            <a:ext cx="4838700" cy="908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body" idx="13"/>
          </p:nvPr>
        </p:nvSpPr>
        <p:spPr>
          <a:xfrm>
            <a:off x="6399647" y="3470942"/>
            <a:ext cx="48387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dt" idx="10"/>
          </p:nvPr>
        </p:nvSpPr>
        <p:spPr>
          <a:xfrm>
            <a:off x="2992120" y="6332220"/>
            <a:ext cx="131318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ftr" idx="11"/>
          </p:nvPr>
        </p:nvSpPr>
        <p:spPr>
          <a:xfrm>
            <a:off x="1494790" y="6332220"/>
            <a:ext cx="149733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sldNum" idx="12"/>
          </p:nvPr>
        </p:nvSpPr>
        <p:spPr>
          <a:xfrm>
            <a:off x="971550" y="6332220"/>
            <a:ext cx="523240" cy="24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  <p:extLst>
      <p:ext uri="{BB962C8B-B14F-4D97-AF65-F5344CB8AC3E}">
        <p14:creationId xmlns:p14="http://schemas.microsoft.com/office/powerpoint/2010/main" val="32960170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Probl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3FCFFF-5934-4C8D-A4B0-6B19C662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-13651"/>
            <a:ext cx="3701436" cy="6858000"/>
          </a:xfrm>
          <a:prstGeom prst="rect">
            <a:avLst/>
          </a:prstGeom>
          <a:solidFill>
            <a:schemeClr val="accent5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0FC4D-FDE2-42C3-B907-27B071B649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41" y="1332239"/>
            <a:ext cx="1871580" cy="6406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97404DC9-3FBE-41B9-946D-9A0D878C288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31042" y="652826"/>
            <a:ext cx="3433138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88BB7876-0125-4084-804C-A842C85586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31042" y="1032330"/>
            <a:ext cx="3433138" cy="137067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645735C-4621-4667-AB52-0391CFBB6B5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3339" y="652826"/>
            <a:ext cx="3433138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488BB2B1-07E3-42A2-B3BE-7FC7D7AE15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203339" y="1032330"/>
            <a:ext cx="3433138" cy="1370672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02C103C8-E422-4DEB-9077-DC11E008056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231042" y="2620561"/>
            <a:ext cx="3433138" cy="428891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FA80948A-8FCC-4BE4-A5F7-20802B17630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231042" y="3002562"/>
            <a:ext cx="3433138" cy="96135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4744F88B-3CB7-4A2B-B718-EEB4E061A79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203339" y="2620561"/>
            <a:ext cx="3433138" cy="428891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7343EDF6-C2D8-47E1-856B-6329A7CE07E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3339" y="3002562"/>
            <a:ext cx="3433138" cy="961350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AC6352A5-5003-4E32-B8FF-A84B4A4AC3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31042" y="4147932"/>
            <a:ext cx="3433138" cy="428891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CC2603EF-30BF-4C6C-BA93-E99C72480916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31042" y="4529933"/>
            <a:ext cx="3433138" cy="1450988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38E30C9-543F-4532-B571-2F2EF52E7A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9E2F8B6B-A63E-448F-86E5-CF3F12A297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5EC1D779-DE8A-45DF-9A79-70F63DD68B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007782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olu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A5AC9-F6E1-46F9-8810-475475E17B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34980" y="848536"/>
            <a:ext cx="1929607" cy="640698"/>
          </a:xfrm>
          <a:prstGeom prst="rect">
            <a:avLst/>
          </a:prstGeom>
          <a:ln w="28575">
            <a:solidFill>
              <a:schemeClr val="accent2"/>
            </a:solidFill>
          </a:ln>
        </p:spPr>
        <p:txBody>
          <a:bodyPr anchor="ctr"/>
          <a:lstStyle>
            <a:lvl1pPr algn="ctr">
              <a:defRPr sz="2400" cap="all" spc="100" baseline="0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52C02D9-C262-43C0-BE24-402661B059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-1" y="0"/>
            <a:ext cx="4495801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D8BD2DF2-5753-43B2-82AD-30DBE8004D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24359" y="2046233"/>
            <a:ext cx="3126583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3A5FD5DB-8694-4BD8-819A-7AD23AAAEF4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024359" y="2425736"/>
            <a:ext cx="3126583" cy="13065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F5129C3-CFB0-408F-BE5C-AC32F5C68F1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526986" y="2046233"/>
            <a:ext cx="3281556" cy="426393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3344438D-488B-4739-95B6-56F81A25FA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526986" y="2425736"/>
            <a:ext cx="3281556" cy="1306527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A6F801D1-185D-4C5B-9855-3AD0372C33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24359" y="4180976"/>
            <a:ext cx="3126583" cy="428891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E46B3EF2-B93D-4E2D-8ECF-31A1DF927BE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24359" y="4562976"/>
            <a:ext cx="3126583" cy="125893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35A8C3BD-2930-45A1-B3E0-EC8FA92B65F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526986" y="4180976"/>
            <a:ext cx="3281556" cy="428891"/>
          </a:xfrm>
          <a:prstGeom prst="rect">
            <a:avLst/>
          </a:prstGeom>
        </p:spPr>
        <p:txBody>
          <a:bodyPr anchor="b"/>
          <a:lstStyle>
            <a:lvl1pPr marL="0" indent="0" algn="l">
              <a:buNone/>
              <a:defRPr sz="1800" cap="all" spc="100" baseline="0">
                <a:solidFill>
                  <a:schemeClr val="accent5">
                    <a:lumMod val="5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7A5E528-A349-45DA-A841-E092311D8F7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526986" y="4562976"/>
            <a:ext cx="3281556" cy="125893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25000"/>
              </a:lnSpc>
              <a:spcBef>
                <a:spcPts val="0"/>
              </a:spcBef>
              <a:buNone/>
              <a:defRPr sz="1600" cap="none" spc="1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61AB9D5A-1951-48B0-9CAE-84FC869BE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spc="100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31" name="Footer Placeholder 4">
            <a:extLst>
              <a:ext uri="{FF2B5EF4-FFF2-40B4-BE49-F238E27FC236}">
                <a16:creationId xmlns:a16="http://schemas.microsoft.com/office/drawing/2014/main" id="{3AEF9F4B-0EB4-4C9F-9159-80E393F3A1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 i="0" cap="all" spc="100" baseline="0">
                <a:solidFill>
                  <a:schemeClr val="bg2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32" name="Slide Number Placeholder 5">
            <a:extLst>
              <a:ext uri="{FF2B5EF4-FFF2-40B4-BE49-F238E27FC236}">
                <a16:creationId xmlns:a16="http://schemas.microsoft.com/office/drawing/2014/main" id="{6BC4F905-196D-4DFF-9947-C56088B56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spc="100" baseline="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fld id="{EA87306C-81BA-4795-A5CA-9392456A8C1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125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A325D4D-835D-41B6-9B16-A090AA088329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Click to add photo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1D87D16-A856-42F4-9D8C-A0C1D482E5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2442052"/>
            <a:ext cx="12192000" cy="1425257"/>
          </a:xfrm>
          <a:prstGeom prst="rect">
            <a:avLst/>
          </a:prstGeom>
          <a:solidFill>
            <a:schemeClr val="accent4">
              <a:lumMod val="50000"/>
              <a:alpha val="55000"/>
            </a:schemeClr>
          </a:solidFill>
        </p:spPr>
        <p:txBody>
          <a:bodyPr anchor="ctr"/>
          <a:lstStyle>
            <a:lvl1pPr algn="ctr">
              <a:defRPr sz="6000" cap="all" spc="10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Add title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BD39BB44-64AC-49A7-8555-2CC62AD7C2D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3867309"/>
            <a:ext cx="12192000" cy="1036320"/>
          </a:xfrm>
          <a:prstGeom prst="rect">
            <a:avLst/>
          </a:prstGeom>
          <a:solidFill>
            <a:schemeClr val="accent4">
              <a:lumMod val="50000"/>
              <a:alpha val="55000"/>
            </a:schemeClr>
          </a:solidFill>
        </p:spPr>
        <p:txBody>
          <a:bodyPr anchor="ctr"/>
          <a:lstStyle>
            <a:lvl1pPr marL="0" indent="0" algn="ctr">
              <a:buNone/>
              <a:defRPr sz="2400" cap="none" spc="10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F51AF15-A085-49C8-ABEC-EF90E7D7B2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192779" y="2325925"/>
            <a:ext cx="5806440" cy="1596549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3595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3853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687" r:id="rId5"/>
    <p:sldLayoutId id="2147483688" r:id="rId6"/>
    <p:sldLayoutId id="2147483689" r:id="rId7"/>
    <p:sldLayoutId id="2147483690" r:id="rId8"/>
    <p:sldLayoutId id="2147483691" r:id="rId9"/>
    <p:sldLayoutId id="2147483692" r:id="rId10"/>
    <p:sldLayoutId id="2147483693" r:id="rId11"/>
    <p:sldLayoutId id="2147483694" r:id="rId12"/>
    <p:sldLayoutId id="2147483695" r:id="rId13"/>
    <p:sldLayoutId id="2147483696" r:id="rId14"/>
    <p:sldLayoutId id="2147483697" r:id="rId15"/>
    <p:sldLayoutId id="2147483698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lide Number Placeholder 324">
            <a:extLst>
              <a:ext uri="{FF2B5EF4-FFF2-40B4-BE49-F238E27FC236}">
                <a16:creationId xmlns:a16="http://schemas.microsoft.com/office/drawing/2014/main" id="{C9F5126E-D75A-4501-9BA9-5485EAB795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0816C6F3-3176-008F-6DD3-653B04705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6135" y="354525"/>
            <a:ext cx="2920693" cy="1894913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0B81F8DC-2E3A-76FF-CBCE-082B8B5B92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39" y="4636043"/>
            <a:ext cx="2939189" cy="1835722"/>
          </a:xfrm>
          <a:prstGeom prst="rect">
            <a:avLst/>
          </a:prstGeom>
        </p:spPr>
      </p:pic>
      <p:pic>
        <p:nvPicPr>
          <p:cNvPr id="40" name="Picture 39" descr="Map&#10;&#10;Description automatically generated with medium confidence">
            <a:extLst>
              <a:ext uri="{FF2B5EF4-FFF2-40B4-BE49-F238E27FC236}">
                <a16:creationId xmlns:a16="http://schemas.microsoft.com/office/drawing/2014/main" id="{DD6B8D56-A6ED-B773-2A9F-925F484D19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84" y="2396564"/>
            <a:ext cx="2920693" cy="1945227"/>
          </a:xfrm>
          <a:prstGeom prst="rect">
            <a:avLst/>
          </a:prstGeom>
        </p:spPr>
      </p:pic>
      <p:sp>
        <p:nvSpPr>
          <p:cNvPr id="46" name="Title 25">
            <a:extLst>
              <a:ext uri="{FF2B5EF4-FFF2-40B4-BE49-F238E27FC236}">
                <a16:creationId xmlns:a16="http://schemas.microsoft.com/office/drawing/2014/main" id="{AE901D86-2757-3A63-4055-4C8D5CE0CB7D}"/>
              </a:ext>
            </a:extLst>
          </p:cNvPr>
          <p:cNvSpPr txBox="1">
            <a:spLocks/>
          </p:cNvSpPr>
          <p:nvPr/>
        </p:nvSpPr>
        <p:spPr>
          <a:xfrm>
            <a:off x="5439052" y="355370"/>
            <a:ext cx="4459551" cy="789849"/>
          </a:xfrm>
          <a:prstGeom prst="rect">
            <a:avLst/>
          </a:prstGeom>
          <a:ln w="28575">
            <a:solidFill>
              <a:schemeClr val="tx1"/>
            </a:solidFill>
          </a:ln>
        </p:spPr>
        <p:txBody>
          <a:bodyPr anchor="ctr"/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400" kern="1200" cap="all" spc="1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b="1" dirty="0">
                <a:solidFill>
                  <a:schemeClr val="tx1"/>
                </a:solidFill>
              </a:rPr>
              <a:t>Problem STATEMENT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C6F4F0E0-0BE3-C19F-51E8-D910F68950B3}"/>
              </a:ext>
            </a:extLst>
          </p:cNvPr>
          <p:cNvSpPr txBox="1"/>
          <p:nvPr/>
        </p:nvSpPr>
        <p:spPr>
          <a:xfrm>
            <a:off x="4139285" y="1904993"/>
            <a:ext cx="7774548" cy="4051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Just as much the society as been advanced ever since the invention of plastics our environment is at a rapid rate of degradation.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It is likely to be seen that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rivers are like highways that transport 0.4–4 million metric tons of plastic from human inhabited land into the oceans. 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US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 marL="285750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Due to biomagnification, the waterbodies: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   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  <a:sym typeface="Wingdings" panose="05000000000000000000" pitchFamily="2" charset="2"/>
              </a:rPr>
              <a:t>-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lose most of its o2 levels and it loses the tendency to supports marine life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      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  <a:sym typeface="Wingdings" panose="05000000000000000000" pitchFamily="2" charset="2"/>
              </a:rPr>
              <a:t>-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when the water body is consumed, its prone to cancer, kidney problems      </a:t>
            </a:r>
            <a:r>
              <a:rPr lang="en-US" sz="1800" dirty="0" err="1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mmm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and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Mangal" panose="02040503050203030202" pitchFamily="18" charset="0"/>
              </a:rPr>
              <a:t> birth defects. 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D84DBF-0471-C61F-6F68-85C4B58471CE}"/>
              </a:ext>
            </a:extLst>
          </p:cNvPr>
          <p:cNvSpPr txBox="1"/>
          <p:nvPr/>
        </p:nvSpPr>
        <p:spPr>
          <a:xfrm>
            <a:off x="10044882" y="427665"/>
            <a:ext cx="160486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>
              <a:solidFill>
                <a:srgbClr val="E6E6E6"/>
              </a:solidFill>
            </a:endParaRPr>
          </a:p>
          <a:p>
            <a:pPr marL="285750" indent="-285750">
              <a:buFontTx/>
              <a:buChar char="-"/>
            </a:pPr>
            <a:endParaRPr lang="en-IN" dirty="0">
              <a:solidFill>
                <a:srgbClr val="E6E6E6"/>
              </a:solidFill>
            </a:endParaRPr>
          </a:p>
          <a:p>
            <a:pPr marL="285750" indent="-285750">
              <a:buFontTx/>
              <a:buChar char="-"/>
            </a:pP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002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CF45A9EB-00FC-4DE7-8041-09649EF9B9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" y="2439275"/>
            <a:ext cx="12192000" cy="1425257"/>
          </a:xfrm>
          <a:noFill/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WATERBOT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19D1BA2-3111-4E03-81E3-0D0F9BA3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" y="0"/>
            <a:ext cx="12192000" cy="244205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A4B20A4-BDBA-4ACB-BCCE-1FF6B09FE0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900852"/>
            <a:ext cx="12192000" cy="19542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95DD68C-FEB8-4CF6-883B-1CA9912E41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192779" y="2335156"/>
            <a:ext cx="5806440" cy="1596549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1">
                  <a:lumMod val="1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327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"/>
          <p:cNvSpPr txBox="1">
            <a:spLocks noGrp="1"/>
          </p:cNvSpPr>
          <p:nvPr>
            <p:ph type="title"/>
          </p:nvPr>
        </p:nvSpPr>
        <p:spPr>
          <a:xfrm>
            <a:off x="1095403" y="616305"/>
            <a:ext cx="5534431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/>
              <a:t>Idea/Approach Details</a:t>
            </a:r>
            <a:endParaRPr/>
          </a:p>
        </p:txBody>
      </p:sp>
      <p:sp>
        <p:nvSpPr>
          <p:cNvPr id="218" name="Google Shape;218;p2"/>
          <p:cNvSpPr txBox="1">
            <a:spLocks noGrp="1"/>
          </p:cNvSpPr>
          <p:nvPr>
            <p:ph type="body" idx="1"/>
          </p:nvPr>
        </p:nvSpPr>
        <p:spPr>
          <a:xfrm>
            <a:off x="674951" y="1602422"/>
            <a:ext cx="6715985" cy="2877441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</a:pPr>
            <a:endParaRPr lang="en-US" sz="1800" dirty="0">
              <a:solidFill>
                <a:schemeClr val="lt2"/>
              </a:solidFill>
              <a:latin typeface="Franklin Gothic"/>
            </a:endParaRPr>
          </a:p>
          <a:p>
            <a:pPr marL="514350" indent="-285750">
              <a:buFont typeface="Wingdings"/>
              <a:buChar char="v"/>
            </a:pPr>
            <a:r>
              <a:rPr lang="en-US" dirty="0"/>
              <a:t>Our idea fundamentally includes of an unmanned water vehicle [UWV] which collects trash using </a:t>
            </a:r>
            <a:r>
              <a:rPr lang="en-US" u="sng" dirty="0"/>
              <a:t>AI-OPS</a:t>
            </a:r>
            <a:r>
              <a:rPr lang="en-US" dirty="0"/>
              <a:t> and can be controlled remotely. </a:t>
            </a:r>
          </a:p>
          <a:p>
            <a:pPr marL="514350" indent="-285750">
              <a:buFont typeface="Wingdings"/>
              <a:buChar char="v"/>
            </a:pPr>
            <a:r>
              <a:rPr lang="en-US" dirty="0"/>
              <a:t>It can be powered by both solar panels and batteries thereby, making it more </a:t>
            </a:r>
            <a:r>
              <a:rPr lang="en-US" u="sng" dirty="0"/>
              <a:t>ECO-FRIENDLY</a:t>
            </a:r>
            <a:r>
              <a:rPr lang="en-US" dirty="0"/>
              <a:t> and emission-free. </a:t>
            </a:r>
          </a:p>
          <a:p>
            <a:pPr marL="514350" indent="-285750">
              <a:buFont typeface="Wingdings"/>
              <a:buChar char="v"/>
            </a:pPr>
            <a:r>
              <a:rPr lang="en-US" dirty="0"/>
              <a:t>The vehicle also possesses the ability to analyze the water for pollutants and treat it accordingly.</a:t>
            </a:r>
          </a:p>
          <a:p>
            <a:pPr marL="285750" indent="-184150"/>
            <a:endParaRPr lang="en-US" dirty="0"/>
          </a:p>
        </p:txBody>
      </p:sp>
      <p:sp>
        <p:nvSpPr>
          <p:cNvPr id="219" name="Google Shape;219;p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222" name="Google Shape;222;p2"/>
          <p:cNvSpPr txBox="1"/>
          <p:nvPr/>
        </p:nvSpPr>
        <p:spPr>
          <a:xfrm>
            <a:off x="7859764" y="4303265"/>
            <a:ext cx="3800594" cy="1931237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 dirty="0">
                <a:latin typeface="Franklin Gothic"/>
                <a:ea typeface="Franklin Gothic"/>
                <a:cs typeface="Franklin Gothic"/>
                <a:sym typeface="Franklin Gothic"/>
              </a:rPr>
              <a:t>Technology </a:t>
            </a:r>
            <a:r>
              <a:rPr lang="en-US" sz="1800" dirty="0">
                <a:latin typeface="Franklin Gothic"/>
                <a:ea typeface="Franklin Gothic"/>
                <a:cs typeface="Franklin Gothic"/>
                <a:sym typeface="Franklin Gothic"/>
              </a:rPr>
              <a:t>stack</a:t>
            </a:r>
            <a:r>
              <a:rPr lang="en-US" sz="1600" b="0" i="0" dirty="0">
                <a:latin typeface="Libre Franklin"/>
                <a:ea typeface="Libre Franklin"/>
                <a:cs typeface="Libre Franklin"/>
                <a:sym typeface="Libre Franklin"/>
              </a:rPr>
              <a:t>:</a:t>
            </a:r>
            <a:endParaRPr dirty="0"/>
          </a:p>
          <a:p>
            <a:pPr marL="28575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ym typeface="Libre Franklin"/>
              </a:rPr>
              <a:t>Lidar Sensor</a:t>
            </a:r>
            <a:endParaRPr lang="en-US" sz="1600" dirty="0">
              <a:latin typeface="Libre Franklin"/>
            </a:endParaRPr>
          </a:p>
          <a:p>
            <a:pPr marL="28575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sym typeface="Libre Franklin"/>
              </a:rPr>
              <a:t>Depth Sounder</a:t>
            </a:r>
            <a:endParaRPr lang="en-US" sz="1600" dirty="0">
              <a:solidFill>
                <a:schemeClr val="dk1"/>
              </a:solidFill>
              <a:latin typeface="Libre Franklin"/>
            </a:endParaRPr>
          </a:p>
          <a:p>
            <a:pPr marL="28575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sym typeface="Libre Franklin"/>
              </a:rPr>
              <a:t>P4 multispectral </a:t>
            </a:r>
            <a:endParaRPr lang="en-US" sz="1600" dirty="0">
              <a:solidFill>
                <a:schemeClr val="dk1"/>
              </a:solidFill>
              <a:latin typeface="Libre Franklin"/>
            </a:endParaRPr>
          </a:p>
          <a:p>
            <a:pPr marL="28575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r>
              <a:rPr lang="en-US" sz="1600" dirty="0">
                <a:solidFill>
                  <a:schemeClr val="dk1"/>
                </a:solidFill>
                <a:latin typeface="Libre Franklin"/>
                <a:sym typeface="Libre Franklin"/>
              </a:rPr>
              <a:t>RTK sensor </a:t>
            </a:r>
          </a:p>
          <a:p>
            <a:pPr marL="285750" indent="-285750">
              <a:spcBef>
                <a:spcPts val="1000"/>
              </a:spcBef>
              <a:buClr>
                <a:schemeClr val="dk1"/>
              </a:buClr>
              <a:buSzPts val="1600"/>
              <a:buFont typeface="Noto Sans Symbols"/>
              <a:buChar char="⮚"/>
            </a:pPr>
            <a:endParaRPr lang="en-US" sz="1600" b="0" i="0" dirty="0">
              <a:solidFill>
                <a:schemeClr val="dk1"/>
              </a:solidFill>
              <a:ea typeface="Libre Franklin"/>
            </a:endParaRPr>
          </a:p>
          <a:p>
            <a:pPr>
              <a:spcBef>
                <a:spcPts val="1000"/>
              </a:spcBef>
              <a:buClr>
                <a:schemeClr val="dk1"/>
              </a:buClr>
              <a:buSzPts val="1600"/>
            </a:pPr>
            <a:endParaRPr lang="en-US" sz="1600" dirty="0">
              <a:solidFill>
                <a:schemeClr val="dk1"/>
              </a:solidFill>
              <a:latin typeface="Libre Franklin"/>
              <a:ea typeface="Libre Franklin"/>
            </a:endParaRPr>
          </a:p>
        </p:txBody>
      </p:sp>
      <p:pic>
        <p:nvPicPr>
          <p:cNvPr id="2" name="Picture 2" descr="A picture containing water, boat&#10;&#10;Description automatically generated">
            <a:extLst>
              <a:ext uri="{FF2B5EF4-FFF2-40B4-BE49-F238E27FC236}">
                <a16:creationId xmlns:a16="http://schemas.microsoft.com/office/drawing/2014/main" id="{596273C5-1411-2072-B3B6-37BA82370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0376" y="1178155"/>
            <a:ext cx="3105682" cy="25989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"/>
          <p:cNvSpPr txBox="1">
            <a:spLocks noGrp="1"/>
          </p:cNvSpPr>
          <p:nvPr>
            <p:ph type="title"/>
          </p:nvPr>
        </p:nvSpPr>
        <p:spPr>
          <a:xfrm>
            <a:off x="3205595" y="540274"/>
            <a:ext cx="5780809" cy="610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Franklin Gothic"/>
              <a:buNone/>
            </a:pPr>
            <a:r>
              <a:rPr lang="en-US" dirty="0"/>
              <a:t>Idea/Approach Details</a:t>
            </a:r>
            <a:endParaRPr dirty="0"/>
          </a:p>
        </p:txBody>
      </p:sp>
      <p:sp>
        <p:nvSpPr>
          <p:cNvPr id="230" name="Google Shape;230;p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231" name="Google Shape;231;p3"/>
          <p:cNvSpPr txBox="1"/>
          <p:nvPr/>
        </p:nvSpPr>
        <p:spPr>
          <a:xfrm>
            <a:off x="381869" y="1568191"/>
            <a:ext cx="1342908" cy="297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indent="-228600">
              <a:lnSpc>
                <a:spcPct val="90000"/>
              </a:lnSpc>
              <a:buClr>
                <a:schemeClr val="lt2"/>
              </a:buClr>
              <a:buSzPts val="1800"/>
            </a:pPr>
            <a:r>
              <a:rPr lang="en-US" sz="1800">
                <a:solidFill>
                  <a:schemeClr val="lt2"/>
                </a:solidFill>
                <a:latin typeface="Franklin Gothic"/>
              </a:rPr>
              <a:t>Use Cases:</a:t>
            </a:r>
          </a:p>
        </p:txBody>
      </p:sp>
      <p:sp>
        <p:nvSpPr>
          <p:cNvPr id="5" name="Google Shape;229;p3">
            <a:extLst>
              <a:ext uri="{FF2B5EF4-FFF2-40B4-BE49-F238E27FC236}">
                <a16:creationId xmlns:a16="http://schemas.microsoft.com/office/drawing/2014/main" id="{1AEE46C5-7E0A-4347-E8C8-3F7B331FF240}"/>
              </a:ext>
            </a:extLst>
          </p:cNvPr>
          <p:cNvSpPr txBox="1">
            <a:spLocks noGrp="1"/>
          </p:cNvSpPr>
          <p:nvPr/>
        </p:nvSpPr>
        <p:spPr>
          <a:xfrm>
            <a:off x="1724777" y="2435649"/>
            <a:ext cx="8991600" cy="3922968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lt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marL="0" indent="0">
              <a:spcBef>
                <a:spcPts val="0"/>
              </a:spcBef>
            </a:pPr>
            <a:endParaRPr lang="en-US" dirty="0">
              <a:latin typeface="Arial"/>
            </a:endParaRPr>
          </a:p>
          <a:p>
            <a:pPr marL="285750" indent="-285750">
              <a:spcBef>
                <a:spcPts val="0"/>
              </a:spcBef>
              <a:buFont typeface="Noto Sans Symbols"/>
              <a:buChar char="⮚"/>
            </a:pPr>
            <a:r>
              <a:rPr lang="en-US" dirty="0">
                <a:latin typeface="Arial"/>
                <a:cs typeface="Arial"/>
                <a:sym typeface="Arial"/>
              </a:rPr>
              <a:t>Our water bot picks up the </a:t>
            </a:r>
            <a:r>
              <a:rPr lang="en-US" u="sng" dirty="0">
                <a:latin typeface="Arial"/>
                <a:cs typeface="Arial"/>
                <a:sym typeface="Arial"/>
              </a:rPr>
              <a:t>floating debris</a:t>
            </a:r>
            <a:r>
              <a:rPr lang="en-US" dirty="0">
                <a:latin typeface="Arial"/>
                <a:cs typeface="Arial"/>
                <a:sym typeface="Arial"/>
              </a:rPr>
              <a:t>, Shards of plastics and cleans up any alien aquatic matters (Algae, duck weed). Thereby allows penetration of sun rays in the lake which </a:t>
            </a:r>
            <a:r>
              <a:rPr lang="en-US" u="sng" dirty="0">
                <a:latin typeface="Arial"/>
                <a:cs typeface="Arial"/>
                <a:sym typeface="Arial"/>
              </a:rPr>
              <a:t>restores aquatic life</a:t>
            </a:r>
            <a:r>
              <a:rPr lang="en-US" dirty="0">
                <a:latin typeface="Arial"/>
                <a:cs typeface="Arial"/>
                <a:sym typeface="Arial"/>
              </a:rPr>
              <a:t>.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Noto Sans Symbols"/>
              <a:buChar char="⮚"/>
            </a:pPr>
            <a:endParaRPr lang="en-US" sz="2000" dirty="0"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Noto Sans Symbols"/>
              <a:buChar char="⮚"/>
            </a:pPr>
            <a:endParaRPr lang="en-US" sz="2000" dirty="0"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Noto Sans Symbols"/>
              <a:buChar char="⮚"/>
            </a:pPr>
            <a:r>
              <a:rPr lang="en-US" dirty="0">
                <a:latin typeface="Arial"/>
                <a:cs typeface="Arial"/>
                <a:sym typeface="Arial"/>
              </a:rPr>
              <a:t>Our UWV is a </a:t>
            </a:r>
            <a:r>
              <a:rPr lang="en-US" u="sng" dirty="0">
                <a:latin typeface="Arial"/>
                <a:cs typeface="Arial"/>
                <a:sym typeface="Arial"/>
              </a:rPr>
              <a:t>swimming laboratory</a:t>
            </a:r>
            <a:r>
              <a:rPr lang="en-US" dirty="0">
                <a:latin typeface="Arial"/>
                <a:cs typeface="Arial"/>
                <a:sym typeface="Arial"/>
              </a:rPr>
              <a:t> which is equipped to [pH, salinity, dissolved oxygen, </a:t>
            </a:r>
            <a:r>
              <a:rPr lang="en-US" dirty="0" err="1">
                <a:latin typeface="Arial"/>
                <a:cs typeface="Arial"/>
                <a:sym typeface="Arial"/>
              </a:rPr>
              <a:t>etc</a:t>
            </a:r>
            <a:r>
              <a:rPr lang="en-US" dirty="0">
                <a:latin typeface="Arial"/>
                <a:cs typeface="Arial"/>
                <a:sym typeface="Arial"/>
              </a:rPr>
              <a:t>].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Noto Sans Symbols"/>
              <a:buChar char="⮚"/>
            </a:pPr>
            <a:endParaRPr lang="en-US" sz="2000" dirty="0"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Noto Sans Symbols"/>
              <a:buChar char="⮚"/>
            </a:pPr>
            <a:endParaRPr lang="en-US" sz="2000" dirty="0"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Noto Sans Symbols"/>
              <a:buChar char="⮚"/>
            </a:pPr>
            <a:r>
              <a:rPr lang="en-US" dirty="0">
                <a:latin typeface="Arial"/>
                <a:cs typeface="Arial"/>
                <a:sym typeface="Arial"/>
              </a:rPr>
              <a:t>The UWV can also be equipped to treat the water body </a:t>
            </a:r>
            <a:r>
              <a:rPr lang="en-US" u="sng" dirty="0">
                <a:latin typeface="Arial"/>
                <a:cs typeface="Arial"/>
                <a:sym typeface="Arial"/>
              </a:rPr>
              <a:t>automatically</a:t>
            </a:r>
            <a:r>
              <a:rPr lang="en-US" dirty="0">
                <a:latin typeface="Arial"/>
                <a:cs typeface="Arial"/>
                <a:sym typeface="Arial"/>
              </a:rPr>
              <a:t> with respect to analysis made from the water body.</a:t>
            </a:r>
            <a:endParaRPr lang="en-US" dirty="0">
              <a:latin typeface="Arial"/>
              <a:cs typeface="Arial"/>
            </a:endParaRPr>
          </a:p>
          <a:p>
            <a:pPr marL="285750" indent="-285750">
              <a:spcBef>
                <a:spcPts val="0"/>
              </a:spcBef>
              <a:buFont typeface="Noto Sans Symbols"/>
              <a:buChar char="⮚"/>
            </a:pPr>
            <a:endParaRPr lang="en-US" sz="2000" dirty="0">
              <a:latin typeface="Arial"/>
              <a:cs typeface="Arial"/>
              <a:sym typeface="Arial"/>
            </a:endParaRPr>
          </a:p>
          <a:p>
            <a:pPr marL="285750" indent="-285750">
              <a:spcBef>
                <a:spcPts val="0"/>
              </a:spcBef>
              <a:buFont typeface="Noto Sans Symbols"/>
              <a:buChar char="⮚"/>
            </a:pPr>
            <a:endParaRPr lang="en-US" sz="2000" dirty="0">
              <a:latin typeface="Arial"/>
              <a:cs typeface="Arial"/>
              <a:sym typeface="Arial"/>
            </a:endParaRPr>
          </a:p>
        </p:txBody>
      </p:sp>
      <p:sp>
        <p:nvSpPr>
          <p:cNvPr id="7" name="Google Shape;231;p3">
            <a:extLst>
              <a:ext uri="{FF2B5EF4-FFF2-40B4-BE49-F238E27FC236}">
                <a16:creationId xmlns:a16="http://schemas.microsoft.com/office/drawing/2014/main" id="{EBBC477D-3357-258F-05FD-69130CB7BDB5}"/>
              </a:ext>
            </a:extLst>
          </p:cNvPr>
          <p:cNvSpPr txBox="1"/>
          <p:nvPr/>
        </p:nvSpPr>
        <p:spPr>
          <a:xfrm>
            <a:off x="5606814" y="1542815"/>
            <a:ext cx="5143500" cy="3159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Arial"/>
              <a:buNone/>
            </a:pPr>
            <a:r>
              <a:rPr lang="en-US" sz="1800" b="0" i="0">
                <a:solidFill>
                  <a:schemeClr val="lt2"/>
                </a:solidFill>
                <a:latin typeface="Franklin Gothic"/>
                <a:ea typeface="Franklin Gothic"/>
                <a:cs typeface="Franklin Gothic"/>
                <a:sym typeface="Franklin Gothic"/>
              </a:rPr>
              <a:t>Describe your Dependencies / Show stopper here</a:t>
            </a:r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7FCD56-0601-604A-783A-9C0B912924B7}"/>
              </a:ext>
            </a:extLst>
          </p:cNvPr>
          <p:cNvSpPr txBox="1"/>
          <p:nvPr/>
        </p:nvSpPr>
        <p:spPr>
          <a:xfrm>
            <a:off x="497477" y="1485317"/>
            <a:ext cx="10713448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>
                <a:latin typeface="Libre Franklin"/>
              </a:rPr>
              <a:t>PROBLEM: Local water bodies such as lakes and canals are being heavily polluted with plastic and chemical wastes, this affects the ecosystem.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F20131-2E66-4147-85FF-C0F1FCA9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1746" y="228357"/>
            <a:ext cx="4495801" cy="640698"/>
          </a:xfrm>
        </p:spPr>
        <p:txBody>
          <a:bodyPr/>
          <a:lstStyle/>
          <a:p>
            <a:r>
              <a:rPr lang="en-US" dirty="0"/>
              <a:t>Control flow</a:t>
            </a:r>
          </a:p>
        </p:txBody>
      </p:sp>
      <p:sp>
        <p:nvSpPr>
          <p:cNvPr id="257" name="Footer Placeholder 256">
            <a:extLst>
              <a:ext uri="{FF2B5EF4-FFF2-40B4-BE49-F238E27FC236}">
                <a16:creationId xmlns:a16="http://schemas.microsoft.com/office/drawing/2014/main" id="{8DBC7823-0B82-44CB-B937-1DAF28C16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Water bot</a:t>
            </a:r>
          </a:p>
        </p:txBody>
      </p:sp>
      <p:sp>
        <p:nvSpPr>
          <p:cNvPr id="258" name="Slide Number Placeholder 257">
            <a:extLst>
              <a:ext uri="{FF2B5EF4-FFF2-40B4-BE49-F238E27FC236}">
                <a16:creationId xmlns:a16="http://schemas.microsoft.com/office/drawing/2014/main" id="{A9734560-9D8A-4BBC-A7FA-131A75654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95E453-5EF1-AEB9-4EB8-90047B5E387F}"/>
              </a:ext>
            </a:extLst>
          </p:cNvPr>
          <p:cNvSpPr txBox="1"/>
          <p:nvPr/>
        </p:nvSpPr>
        <p:spPr>
          <a:xfrm>
            <a:off x="540975" y="1117609"/>
            <a:ext cx="1133734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/>
              <a:t>The raspberry pi is powered by a 5000mah power bank and connects to the device via specific mobile hotspot 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The thrusters are connected to their respective ESC. (What are those and why)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 9g servo motor is placed to for control of ramp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Both the thrusters and the 9g servo ramp are powered by 5000 mah batteries  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The sensors [Temperature and D.S.W] are placed at a respective positions for measurements.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All the components placed are connected to the </a:t>
            </a:r>
            <a:r>
              <a:rPr lang="en-IN" dirty="0" err="1"/>
              <a:t>arduino</a:t>
            </a:r>
            <a:r>
              <a:rPr lang="en-IN" dirty="0"/>
              <a:t> board for process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The Arduino is in turn connected to the lora comm module.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The lora comm from the bot is then connected to then connected to the module present in the laptop, ultimately establishes a pitch perfect connection and makes it possible to command the bot remotely.</a:t>
            </a: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5641423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3F20131-2E66-4147-85FF-C0F1FCA9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8099" y="409383"/>
            <a:ext cx="4495801" cy="640698"/>
          </a:xfrm>
        </p:spPr>
        <p:txBody>
          <a:bodyPr/>
          <a:lstStyle/>
          <a:p>
            <a:r>
              <a:rPr lang="en-US" dirty="0"/>
              <a:t>Materials Required</a:t>
            </a:r>
          </a:p>
        </p:txBody>
      </p:sp>
      <p:sp>
        <p:nvSpPr>
          <p:cNvPr id="257" name="Footer Placeholder 256">
            <a:extLst>
              <a:ext uri="{FF2B5EF4-FFF2-40B4-BE49-F238E27FC236}">
                <a16:creationId xmlns:a16="http://schemas.microsoft.com/office/drawing/2014/main" id="{8DBC7823-0B82-44CB-B937-1DAF28C165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Water bot</a:t>
            </a:r>
          </a:p>
        </p:txBody>
      </p:sp>
      <p:sp>
        <p:nvSpPr>
          <p:cNvPr id="258" name="Slide Number Placeholder 257">
            <a:extLst>
              <a:ext uri="{FF2B5EF4-FFF2-40B4-BE49-F238E27FC236}">
                <a16:creationId xmlns:a16="http://schemas.microsoft.com/office/drawing/2014/main" id="{A9734560-9D8A-4BBC-A7FA-131A75654D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EA87306C-81BA-4795-A5CA-9392456A8C1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C95E453-5EF1-AEB9-4EB8-90047B5E387F}"/>
              </a:ext>
            </a:extLst>
          </p:cNvPr>
          <p:cNvSpPr txBox="1"/>
          <p:nvPr/>
        </p:nvSpPr>
        <p:spPr>
          <a:xfrm>
            <a:off x="544377" y="1966361"/>
            <a:ext cx="244151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u="sng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Body</a:t>
            </a:r>
            <a:r>
              <a:rPr lang="en-IN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 :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- Kick boards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-mica board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-</a:t>
            </a:r>
            <a:r>
              <a:rPr lang="en-IN" dirty="0" err="1">
                <a:solidFill>
                  <a:schemeClr val="bg1"/>
                </a:solidFill>
              </a:rPr>
              <a:t>polysterene</a:t>
            </a:r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-Mesh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</a:t>
            </a:r>
          </a:p>
          <a:p>
            <a:pPr algn="ctr"/>
            <a:r>
              <a:rPr lang="en-IN" dirty="0"/>
              <a:t> 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D399A13-C165-6238-BB0E-0EAE00FE5D1A}"/>
              </a:ext>
            </a:extLst>
          </p:cNvPr>
          <p:cNvSpPr txBox="1"/>
          <p:nvPr/>
        </p:nvSpPr>
        <p:spPr>
          <a:xfrm>
            <a:off x="8510237" y="1864416"/>
            <a:ext cx="3054426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Movement of the bot</a:t>
            </a:r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algn="ctr"/>
            <a:r>
              <a:rPr lang="en-IN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-</a:t>
            </a:r>
            <a:r>
              <a:rPr lang="en-IN" dirty="0">
                <a:solidFill>
                  <a:schemeClr val="bg1"/>
                </a:solidFill>
              </a:rPr>
              <a:t>2X 10,000rpm BLDC motors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-2X ESC for BLDC motors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-2X 5000 mah batteries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-9g servo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-robot arm gripper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C074B5A-BF7D-112A-573C-69F862082DC6}"/>
              </a:ext>
            </a:extLst>
          </p:cNvPr>
          <p:cNvSpPr txBox="1"/>
          <p:nvPr/>
        </p:nvSpPr>
        <p:spPr>
          <a:xfrm>
            <a:off x="4059411" y="1971343"/>
            <a:ext cx="347505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Computing And communication</a:t>
            </a: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-Raspberry PI module 4 </a:t>
            </a:r>
          </a:p>
          <a:p>
            <a:pPr marL="285750" indent="-285750" algn="ctr">
              <a:buFontTx/>
              <a:buChar char="-"/>
            </a:pPr>
            <a:r>
              <a:rPr lang="en-IN" dirty="0">
                <a:solidFill>
                  <a:schemeClr val="bg1"/>
                </a:solidFill>
              </a:rPr>
              <a:t>32gigs micro SD card </a:t>
            </a:r>
          </a:p>
          <a:p>
            <a:pPr marL="285750" indent="-285750" algn="ctr">
              <a:buFontTx/>
              <a:buChar char="-"/>
            </a:pPr>
            <a:r>
              <a:rPr lang="en-IN" dirty="0" err="1">
                <a:solidFill>
                  <a:schemeClr val="bg1"/>
                </a:solidFill>
              </a:rPr>
              <a:t>Audriuno</a:t>
            </a:r>
            <a:r>
              <a:rPr lang="en-IN" dirty="0">
                <a:solidFill>
                  <a:schemeClr val="bg1"/>
                </a:solidFill>
              </a:rPr>
              <a:t> UNO</a:t>
            </a:r>
          </a:p>
          <a:p>
            <a:pPr marL="285750" indent="-285750" algn="ctr">
              <a:buFontTx/>
              <a:buChar char="-"/>
            </a:pPr>
            <a:r>
              <a:rPr lang="en-IN" dirty="0">
                <a:solidFill>
                  <a:schemeClr val="bg1"/>
                </a:solidFill>
              </a:rPr>
              <a:t>LORA communication Module </a:t>
            </a:r>
          </a:p>
          <a:p>
            <a:pPr marL="285750" indent="-285750" algn="ctr">
              <a:buFontTx/>
              <a:buChar char="-"/>
            </a:pPr>
            <a:endParaRPr lang="en-IN" dirty="0">
              <a:solidFill>
                <a:schemeClr val="bg1"/>
              </a:solidFill>
            </a:endParaRPr>
          </a:p>
          <a:p>
            <a:pPr marL="285750" indent="-285750" algn="ctr">
              <a:buFontTx/>
              <a:buChar char="-"/>
            </a:pPr>
            <a:endParaRPr lang="en-IN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61367FE-6CB1-6571-2626-95BA8E518467}"/>
              </a:ext>
            </a:extLst>
          </p:cNvPr>
          <p:cNvSpPr txBox="1"/>
          <p:nvPr/>
        </p:nvSpPr>
        <p:spPr>
          <a:xfrm>
            <a:off x="1957873" y="4379015"/>
            <a:ext cx="26611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Power source</a:t>
            </a: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marL="285750" indent="-285750" algn="ctr">
              <a:buFontTx/>
              <a:buChar char="-"/>
            </a:pPr>
            <a:r>
              <a:rPr lang="en-IN" dirty="0">
                <a:solidFill>
                  <a:schemeClr val="bg1"/>
                </a:solidFill>
              </a:rPr>
              <a:t>5000mah </a:t>
            </a:r>
            <a:r>
              <a:rPr lang="en-IN" dirty="0" err="1">
                <a:solidFill>
                  <a:schemeClr val="bg1"/>
                </a:solidFill>
              </a:rPr>
              <a:t>powerbank</a:t>
            </a:r>
            <a:endParaRPr lang="en-IN" dirty="0">
              <a:solidFill>
                <a:schemeClr val="bg1"/>
              </a:solidFill>
            </a:endParaRPr>
          </a:p>
          <a:p>
            <a:pPr marL="285750" indent="-285750" algn="ctr">
              <a:buFontTx/>
              <a:buChar char="-"/>
            </a:pPr>
            <a:r>
              <a:rPr lang="en-IN" dirty="0">
                <a:solidFill>
                  <a:schemeClr val="bg1"/>
                </a:solidFill>
              </a:rPr>
              <a:t>5000mah batteries X2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22D66C4-276B-2CCF-2B0B-19FB13927BB6}"/>
              </a:ext>
            </a:extLst>
          </p:cNvPr>
          <p:cNvSpPr txBox="1"/>
          <p:nvPr/>
        </p:nvSpPr>
        <p:spPr>
          <a:xfrm>
            <a:off x="7436082" y="4379015"/>
            <a:ext cx="331052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u="sng" dirty="0">
                <a:solidFill>
                  <a:schemeClr val="tx2">
                    <a:lumMod val="60000"/>
                    <a:lumOff val="40000"/>
                  </a:schemeClr>
                </a:solidFill>
              </a:rPr>
              <a:t>Sensors</a:t>
            </a:r>
            <a:r>
              <a:rPr lang="en-IN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: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- Digital Temperature Sensor</a:t>
            </a:r>
          </a:p>
          <a:p>
            <a:pPr marL="285750" indent="-285750" algn="ctr">
              <a:buFontTx/>
              <a:buChar char="-"/>
            </a:pPr>
            <a:r>
              <a:rPr lang="en-IN" dirty="0">
                <a:solidFill>
                  <a:schemeClr val="bg1"/>
                </a:solidFill>
              </a:rPr>
              <a:t>Analog DSW Sensor </a:t>
            </a:r>
          </a:p>
          <a:p>
            <a:pPr marL="285750" indent="-285750" algn="ctr">
              <a:buFontTx/>
              <a:buChar char="-"/>
            </a:pPr>
            <a:r>
              <a:rPr lang="en-IN" dirty="0">
                <a:solidFill>
                  <a:schemeClr val="bg1"/>
                </a:solidFill>
              </a:rPr>
              <a:t>P4 multispectral</a:t>
            </a:r>
          </a:p>
          <a:p>
            <a:pPr marL="285750" indent="-285750" algn="ctr">
              <a:buFontTx/>
              <a:buChar char="-"/>
            </a:pPr>
            <a:r>
              <a:rPr lang="en-IN" dirty="0">
                <a:solidFill>
                  <a:schemeClr val="bg1"/>
                </a:solidFill>
              </a:rPr>
              <a:t>Infra red sensors</a:t>
            </a:r>
          </a:p>
          <a:p>
            <a:pPr marL="285750" indent="-285750" algn="ctr">
              <a:buFontTx/>
              <a:buChar char="-"/>
            </a:pPr>
            <a:r>
              <a:rPr lang="en-IN" dirty="0">
                <a:solidFill>
                  <a:schemeClr val="bg1"/>
                </a:solidFill>
              </a:rPr>
              <a:t>RTK sensors.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70B1BEF-87E8-9980-1813-1244C5901643}"/>
              </a:ext>
            </a:extLst>
          </p:cNvPr>
          <p:cNvSpPr/>
          <p:nvPr/>
        </p:nvSpPr>
        <p:spPr>
          <a:xfrm>
            <a:off x="568172" y="1883845"/>
            <a:ext cx="2441510" cy="1754326"/>
          </a:xfrm>
          <a:prstGeom prst="rect">
            <a:avLst/>
          </a:prstGeom>
          <a:noFill/>
          <a:ln w="190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2BA3F0-3A43-45F1-1F7E-374602260C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256" y="1879557"/>
            <a:ext cx="3665364" cy="175861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1BC746-C9A3-F9E3-A38B-4BA6723DB5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194" y="1864416"/>
            <a:ext cx="2963453" cy="178465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E5EEE16-46F2-3504-56C4-FB88B98DA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57873" y="4197507"/>
            <a:ext cx="2963453" cy="139973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1E8F74-311E-9312-91D8-65F6776C6B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5273" y="4348336"/>
            <a:ext cx="3212139" cy="190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4308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F5FE1-01B2-32AF-6E27-29C64F2E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Cost of the </a:t>
            </a:r>
            <a:r>
              <a:rPr lang="en-IN" dirty="0" err="1"/>
              <a:t>waterbot</a:t>
            </a:r>
            <a:r>
              <a:rPr lang="en-IN" dirty="0"/>
              <a:t>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12F71-B7D9-C937-4F75-B976C7CA9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total cost of the </a:t>
            </a:r>
            <a:r>
              <a:rPr lang="en-IN" dirty="0" err="1"/>
              <a:t>waterbot</a:t>
            </a:r>
            <a:r>
              <a:rPr lang="en-IN" dirty="0"/>
              <a:t> sums up to</a:t>
            </a:r>
          </a:p>
          <a:p>
            <a:pPr marL="0" indent="0">
              <a:buNone/>
            </a:pPr>
            <a:r>
              <a:rPr lang="en-IN" dirty="0"/>
              <a:t>                    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sz="3200" dirty="0"/>
              <a:t>         </a:t>
            </a:r>
          </a:p>
          <a:p>
            <a:pPr marL="0" indent="0">
              <a:buNone/>
            </a:pPr>
            <a:r>
              <a:rPr lang="en-IN" sz="3200" dirty="0"/>
              <a:t>          [50,000 – 1,00,000]– Indian </a:t>
            </a:r>
            <a:r>
              <a:rPr lang="en-IN" sz="3200" dirty="0" err="1"/>
              <a:t>Ruppes</a:t>
            </a:r>
            <a:r>
              <a:rPr lang="en-IN" sz="3200" dirty="0"/>
              <a:t>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178D2-6FCC-58B3-ED1F-7D24975BA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1794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0</TotalTime>
  <Words>565</Words>
  <Application>Microsoft Office PowerPoint</Application>
  <PresentationFormat>Widescreen</PresentationFormat>
  <Paragraphs>91</Paragraphs>
  <Slides>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Century Gothic</vt:lpstr>
      <vt:lpstr>Libre Franklin</vt:lpstr>
      <vt:lpstr>Calibri</vt:lpstr>
      <vt:lpstr>Noto Sans Symbols</vt:lpstr>
      <vt:lpstr>Franklin Gothic</vt:lpstr>
      <vt:lpstr>Wingdings</vt:lpstr>
      <vt:lpstr>Arial</vt:lpstr>
      <vt:lpstr>Garamond</vt:lpstr>
      <vt:lpstr>Savon</vt:lpstr>
      <vt:lpstr>PowerPoint Presentation</vt:lpstr>
      <vt:lpstr>WATERBOT</vt:lpstr>
      <vt:lpstr>Idea/Approach Details</vt:lpstr>
      <vt:lpstr>Idea/Approach Details</vt:lpstr>
      <vt:lpstr>Control flow</vt:lpstr>
      <vt:lpstr>Materials Required</vt:lpstr>
      <vt:lpstr>Cost of the waterbot: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Details of the Team and Problem Statement</dc:title>
  <dc:creator>Sarim Moin</dc:creator>
  <cp:lastModifiedBy>Charan Velavan</cp:lastModifiedBy>
  <cp:revision>19</cp:revision>
  <dcterms:created xsi:type="dcterms:W3CDTF">2022-02-11T07:14:46Z</dcterms:created>
  <dcterms:modified xsi:type="dcterms:W3CDTF">2022-10-14T18:26:49Z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